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" cy="82296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417320" y="365760"/>
            <a:ext cx="822960" cy="822960"/>
          </a:xfrm>
          <a:prstGeom prst="ellipse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365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S&amp;P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Crypto vs Traditional Markets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Bitcoin &amp; S&amp;P 500: Correlation, Crash Behavior &amp; Volatility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8229600" cy="3657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218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(BTC-USD)  •  FRED Federal Reserve (S&amp;P 500)  •  2016–2025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Technology  |  Masters Program  |  April 30,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5156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24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4128" y="1124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Background &amp; Questions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15544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crypto vs equities matters today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224028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3134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24128" y="231343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 Cleaning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2743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+ FRED, 2016–2025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42900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42900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50215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RQ1: Correlation Analysis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931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BTC linked to the stock market?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105156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5156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124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21808" y="1124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RQ2: Crash / Hedge Analysis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21808" y="15544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BTC protect in downturns?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224028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224028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23134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321808" y="231343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RQ3: Volatility Comparison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21808" y="2743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risky is crypto vs equities?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342900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342900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50215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21808" y="350215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Discussion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21808" y="3931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and limitations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Background &amp; Significance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3977640" cy="356616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97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Study Matters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3703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has grown from a niche experiment into a $1 trillion+ asset class, attracting institutional investors and retail traders alike.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crypto enters mainstream portfolios, investors must understand: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Does BTC diversify or amplify risk?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Can it hedge against market downturns?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How much more volatile is it really?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26280" y="1005840"/>
            <a:ext cx="4206240" cy="3566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6344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0" y="1691640"/>
            <a:ext cx="54864" cy="7498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17099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49240" y="17099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Bitcoin correlated with the stock market?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81728" y="2075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r, rolling correlation, OLS regression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2651760"/>
            <a:ext cx="54864" cy="7498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1728" y="2670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49240" y="267004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Bitcoin act as a hedge during crashes?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81728" y="30358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during 2018, COVID, 2022 bear market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3611880"/>
            <a:ext cx="54864" cy="7498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81728" y="363016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49240" y="36301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volatility compare?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81728" y="39959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vol, rolling vol, VaR, return distribution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Collection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3977640" cy="361188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115568"/>
            <a:ext cx="621792" cy="621792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155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34440" y="117043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1: Yahoo Finance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(BTC-USD)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965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7452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(BTC-USD)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3774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2377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(7 days/week)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7889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74520" y="2788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2016 – Dec 2025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2004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74520" y="3200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observations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6118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74520" y="3611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Python library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0233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74520" y="40233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closing price (USD)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26280" y="1005840"/>
            <a:ext cx="4206240" cy="361188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115568"/>
            <a:ext cx="621792" cy="621792"/>
          </a:xfrm>
          <a:prstGeom prst="ellipse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1155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2: FRED (Federal Reserve)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9496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Index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19659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Index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63440" y="23774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26480" y="23774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(business days only)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63440" y="27889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27889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2016 – Dec 2025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63440" y="32004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20040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2,523 observations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663440" y="36118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6118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pandas_datareader library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63440" y="4023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126480" y="40233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level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 &amp; Preparation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69848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6984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87552" y="10058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Handle Missing Values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7552" y="135331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occasionally reports no value on thin trading days. We forward-fill S&amp;P 500 gaps, then drop any remaining NaN rows after the inner join.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874520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8745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18105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Merge &amp; Align Dates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87552" y="215798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 on date index keeps only days where BOTH assets have data (2,431 matching business days). BTC weekend data is excluded.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679192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919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87552" y="261518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Conversion &amp; Sort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96265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columns cast to float64. Index set as DatetimeIndex and sorted ascending. Year column added for groupby operations.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483864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4838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87552" y="341985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New Columns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87552" y="376732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simple returns (pct_change), log returns, cumulative returns (base 100), 30-day rolling volatility, and 90-day rolling correlation.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288536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2885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" y="42245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Subset &amp; Aggregation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7552" y="45720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Post-2020 subset for focused analysis. Annual statistics computed via groupby(Year) with mean, std, min, max, and total return aggregations.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— Price History: 2016 to 2025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1_price_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85953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 Invested in 2016: A Tale of Two Assets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2_cumulative_grow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667512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32320" y="914400"/>
            <a:ext cx="1737360" cy="132588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0" y="960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132320" y="1234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$19,887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713232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$100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132320" y="2468880"/>
            <a:ext cx="1737360" cy="1325880"/>
          </a:xfrm>
          <a:prstGeom prst="rect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0" y="25146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132320" y="2788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$331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713232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$100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74320" y="4709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Log scale used so both assets remain visible on the same chart.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Bitcoin Correlated with the Stock Market?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2560320" cy="33832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463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0.246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36576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&lt; 0.0001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576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significant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Weak-to-moderate positive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4206240"/>
            <a:ext cx="2560320" cy="4572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= 0.91  |  R-squared = 0.060</a:t>
            </a:r>
            <a:endParaRPr lang="en-US" sz="1100" dirty="0"/>
          </a:p>
        </p:txBody>
      </p:sp>
      <p:pic>
        <p:nvPicPr>
          <p:cNvPr id="12" name="Image 0" descr="/sessions/vibrant-quirky-carson/mnt/Crypto-vs-Traditional-Markets/fig3_correlation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1261872"/>
            <a:ext cx="2743200" cy="35204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035040" y="1280160"/>
            <a:ext cx="2697480" cy="33832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03504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26480" y="193852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9280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r=0.246 is significant — BTC has measurable but limited equity linkage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26480" y="262432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82512" y="257860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~94% of BTC variance is NOT explained by S&amp;P 500 moves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126480" y="331012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326440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has risen post-2020 with institutional adoption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126480" y="399592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95020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Beta=0.91: BTC moves ~0.91% per 1% S&amp;P move on correlated days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 — Correlation is Not Constant Over Time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4_rolling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6492240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12280" y="896112"/>
            <a:ext cx="2011680" cy="89611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12280" y="896112"/>
            <a:ext cx="54864" cy="896112"/>
          </a:xfrm>
          <a:prstGeom prst="rect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22008" y="9509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2016–2019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22008" y="1225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correlation — BTC traded independently of equities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812280" y="1965960"/>
            <a:ext cx="2011680" cy="89611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812280" y="1965960"/>
            <a:ext cx="54864" cy="89611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22008" y="202082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 2020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922008" y="229514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spiked as all risk assets sold off together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812280" y="3035808"/>
            <a:ext cx="2011680" cy="89611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812280" y="3035808"/>
            <a:ext cx="54864" cy="89611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22008" y="30906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2022–2025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922008" y="33649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correlation as institutional investors drove linkage</a:t>
            </a:r>
            <a:endParaRPr lang="en-US" sz="950" dirty="0"/>
          </a:p>
        </p:txBody>
      </p:sp>
      <p:pic>
        <p:nvPicPr>
          <p:cNvPr id="17" name="Image 1" descr="/sessions/vibrant-quirky-carson/mnt/Crypto-vs-Traditional-Markets/fig6_yearly_corre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133088"/>
            <a:ext cx="859536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 — OLS Regression: BTC Returns on S&amp;P 500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5_scatter_re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484632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03520" y="914400"/>
            <a:ext cx="3474720" cy="384048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440680" y="10058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Output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76672" y="1508760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0" y="1581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(beta)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178040" y="158191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0.912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376672" y="2075688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(intercept)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178040" y="21488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0.00128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376672" y="2642616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27157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178040" y="271576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0.0604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376672" y="3209544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0" y="32826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(beta)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178040" y="328269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0.0001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44068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40680" y="4114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1% S&amp;P 500 move, BTC moves ~0.91%. But R2=0.06 — the market explains only 6% of BTC variance.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Bitcoin Hedge Against Market Crashes?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280160"/>
            <a:ext cx="2834640" cy="352044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80160"/>
            <a:ext cx="2834640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984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2018 Sell-Off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8653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20 – Dec 24, 2018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trading days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542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return: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816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-19.1%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65760" y="34015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return: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657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-36.3%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274320" y="4553712"/>
            <a:ext cx="2834640" cy="2468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45537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hedge — amplified losses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27832" y="1280160"/>
            <a:ext cx="2834640" cy="352044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27832" y="1280160"/>
            <a:ext cx="2834640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9272" y="12984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 Crash 2020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19272" y="18653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19 – Mar 23, 2020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319272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trading days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19272" y="2542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return: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19272" y="2816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-33.6%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319272" y="34015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return: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19272" y="3657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-36.7%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3227832" y="4553712"/>
            <a:ext cx="2834640" cy="2468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7832" y="45537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hedge — amplified losses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81344" y="1280160"/>
            <a:ext cx="2834640" cy="352044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81344" y="1280160"/>
            <a:ext cx="2834640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72784" y="12984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2022 Bear Market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72784" y="18653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3 – Oct 12, 2022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72784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 trading days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72784" y="2542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return: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72784" y="2816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-24.9%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6272784" y="34015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return: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72784" y="3657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-58.6%</a:t>
            </a:r>
            <a:endParaRPr lang="en-US" sz="2800" dirty="0"/>
          </a:p>
        </p:txBody>
      </p:sp>
      <p:sp>
        <p:nvSpPr>
          <p:cNvPr id="36" name="Shape 34"/>
          <p:cNvSpPr/>
          <p:nvPr/>
        </p:nvSpPr>
        <p:spPr>
          <a:xfrm>
            <a:off x="6181344" y="4553712"/>
            <a:ext cx="2834640" cy="2468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81344" y="45537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hedge — amplified losses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74320" y="4864608"/>
            <a:ext cx="8595360" cy="201168"/>
          </a:xfrm>
          <a:prstGeom prst="rect">
            <a:avLst/>
          </a:prstGeom>
          <a:solidFill>
            <a:srgbClr val="243554"/>
          </a:solidFill>
          <a:ln w="12700">
            <a:solidFill>
              <a:srgbClr val="24355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86460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Bitcoin amplified losses in every major crash — it does NOT act as a safe-haven or hedge asset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 — Drawdown: BTC Fell Further in Every Crash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8_draw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8595360" cy="4160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920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shaded bands indicate the 3 major crash windows. BTC consistently shows deeper and longer-lasting drawdowns.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Volatility Compare?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298448"/>
            <a:ext cx="2011680" cy="15544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98448"/>
            <a:ext cx="2011680" cy="640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264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Annual Vol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71907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66.2%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11480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S&amp;P 500: 17.9%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68880" y="1298448"/>
            <a:ext cx="2011680" cy="15544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68880" y="1298448"/>
            <a:ext cx="2011680" cy="640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14264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Ratio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171907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3.7x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560320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is 3.7x more volatile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17720" y="1298448"/>
            <a:ext cx="2011680" cy="15544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298448"/>
            <a:ext cx="201168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4264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VaR 95%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171907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-6.0%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709160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S&amp;P 500: -1.65%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766560" y="1298448"/>
            <a:ext cx="2011680" cy="15544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0" y="1298448"/>
            <a:ext cx="201168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0" y="14264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Annual Ret.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0" y="171907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858000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S&amp;P 500: 13.6%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2999232"/>
            <a:ext cx="8503920" cy="1938528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30723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Metrics Comparison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34930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532888" y="34930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08576" y="34930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84264" y="34930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38221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Volatility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532888" y="38221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66.2%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608576" y="38221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17.9%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84264" y="38221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0782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Single-Day Loss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532888" y="40782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-46.5%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608576" y="40782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684264" y="40782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~4x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43342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(95%, daily)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532888" y="43342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608576" y="43342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-1.65%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84264" y="43342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7200" y="45902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Kurtosis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532888" y="45902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(fat tails)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608576" y="45902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13.2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84264" y="45902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 — Rolling 30-Day Volatility Over Time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9_rolling_volat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8595360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60520"/>
            <a:ext cx="3977640" cy="80467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4160520"/>
            <a:ext cx="54864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42245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Bitcoin Volatility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44805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 peaks above 150% annualised during major crypto events (2017 bull run, COVID, 2021-22 cycle).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4160520"/>
            <a:ext cx="3977640" cy="80467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4160520"/>
            <a:ext cx="54864" cy="804672"/>
          </a:xfrm>
          <a:prstGeom prst="rect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46320" y="42245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S&amp;P 500 Volatility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846320" y="44805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vol peaked during COVID (Mar 2020). Even its largest spike remains below BTC's average level.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 — Return Distribution: Fat Tails in Crypto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11_return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85953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55371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shows a far wider distribution with extreme daily swings (+20% to -46%) vs S&amp;P 500 (+11% to -12%). Higher kurtosis = fatter tails = more extreme daily events.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of Findings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914400" cy="118872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813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115568"/>
            <a:ext cx="7178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has a statistically significant but moderate positive correlation with the S&amp;P 500 (r=0.246). This link has strengthened post-2020 with institutional adoption. Beta of 0.91 — BTC amplifies equity moves on correlated days. R2=0.06 means 94% of BTC variance remains unexplained by equities.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84124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31720"/>
            <a:ext cx="914400" cy="1188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423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28072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17320" y="2441448"/>
            <a:ext cx="7178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did NOT hedge in any of the 3 major crashes. COVID 2020: BTC fell -36.7% vs S&amp;P -33.6%. 2022 bear market: BTC -58.6% vs S&amp;P -24.9%. BTC behaves as a high-risk growth asset that sells off in risk-off environments — not a safe haven like gold.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84124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657600"/>
            <a:ext cx="914400" cy="1188720"/>
          </a:xfrm>
          <a:prstGeom prst="rect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7490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41330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767328"/>
            <a:ext cx="7178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is 3.7x more volatile than the S&amp;P 500 (66.2% vs 17.9% annualised). VaR at 95% is -6.0% (BTC) vs -1.65% (S&amp;P). Despite extreme risk, BTC delivered ~75% annualised return vs 13.6% — a highly asymmetric risk/reward profile.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Discussion, Limitations &amp; Future Work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3977640" cy="374904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97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8191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data only — fundamentals, on-chain metrics and regulation not included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03704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57984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alone does not represent all crypto (Ethereum, DeFi, altcoins missing)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779776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34056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is U.S.-centric — global markets may show different BTC relationships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35584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31012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 are time-varying and unstable — past patterns may not persist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88620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BTC trades excluded by inner join on business days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1005840"/>
            <a:ext cx="4206240" cy="37490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63440" y="109728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Research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1627632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158191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Ethereum, gold, bonds and DeFi tokens for broader asset comparison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203704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15798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Google Trends and Fear &amp; Greed Index as sentiment data sources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779776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73405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GARCH(1,1) models for dynamic volatility estimation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35584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3101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Markov regime-switching models to capture correlation structural breaks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3931920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8862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analysis to international equity indices (Nikkei, FTSE, DAX)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Contributions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412480" cy="3886200"/>
        </p:xfrm>
        <a:graphic>
          <a:graphicData uri="http://schemas.openxmlformats.org/drawingml/2006/table">
            <a:tbl>
              <a:tblPr/>
              <a:tblGrid>
                <a:gridCol w="1417320"/>
                <a:gridCol w="1783080"/>
                <a:gridCol w="52120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&amp; Responsibilities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Lead / Data Engineer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 from Yahoo Finance &amp; FRED, data cleaning pipeline, index alignment, missing value handling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 Analyst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analysis (RQ1), Pearson r, rolling correlation, OLS regression, yearly groupby aggregations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Analyst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Crash/hedge analysis (RQ2), drawdown calculations, crash window identification and performance comparison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Analyst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Volatility analysis (RQ3), rolling vol, VaR, return distribution, skewness &amp; kurtosis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Visualization &amp; Presentation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matplotlib/seaborn charts, PowerPoint slides, and final narrative/conclusions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Yahoo Finance. (2025). Bitcoin USD (BTC-USD) Historical Data. Retrieved via yfinance Python library. https://finance.yahoo.com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490472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Federal Reserve Bank of St. Louis (FRED). (2025). S&amp;P 500 Index [SP500]. pandas-datareader. https://fred.stlouisfed.org/series/SP500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1975104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McKinney, W. (2010). Data structures for statistical computing in Python. Proceedings of the 9th Python in Science Conference, 51-56.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459736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Bouri, E., et al. (2017). On the hedge and safe haven properties of Bitcoin. Finance Research Letters, 20, 192-198.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Corbet, S., et al. (2018). Exploring dynamic relationships between cryptocurrencies and other financial assets. Economics Letters, 165, 28-34.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Dyhrberg, A. H. (2016). Hedging capabilities of Bitcoin. Is it the virtual gold? Finance Research Letters, 16, 139-144.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Seaborn: Statistical Data Visualization. (2021). https://seaborn.pydata.org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4398264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Hunter, J. D. (2007). Matplotlib: A 2D graphics environment. Computing in Science &amp; Engineering, 9(3), 90-95.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0" y="411480"/>
            <a:ext cx="2194560" cy="219456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0" y="411480"/>
            <a:ext cx="2194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</a:rPr>
              <a:t>B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069080"/>
            <a:ext cx="4572000" cy="3657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vs Traditional Markets  |  Financial Technology  |  April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 vs Traditional Markets</dc:title>
  <dc:subject>PptxGenJS Presentation</dc:subject>
  <dc:creator>PptxGenJS</dc:creator>
  <cp:lastModifiedBy>PptxGenJS</cp:lastModifiedBy>
  <cp:revision>1</cp:revision>
  <dcterms:created xsi:type="dcterms:W3CDTF">2026-04-30T07:34:09Z</dcterms:created>
  <dcterms:modified xsi:type="dcterms:W3CDTF">2026-04-30T07:34:09Z</dcterms:modified>
</cp:coreProperties>
</file>