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365760"/>
            <a:ext cx="822960" cy="822960"/>
          </a:xfrm>
          <a:prstGeom prst="ellipse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S&amp;P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vs Traditional Markets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Bitcoin &amp; S&amp;P 500: Correlation, Crash Behavior &amp; Volatility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(BTC-USD)  •  FRED Federal Reserve (S&amp;P 500)  •  2016–2025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Technology  |  Masters Program  |  April 30,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1124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crypto vs equities matters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+ FRED, 2016–2025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2900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24128" y="35021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Correlation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BTC linked to the stock market?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1124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Crash / Hedge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BTC protect in downturns?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4028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21808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Volatility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risky is crypto vs equities?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429000"/>
            <a:ext cx="64008" cy="100584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21808" y="35021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limitations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Background &amp; Significance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Study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has grown from a niche experiment into a $1 trillion+ asset class, attracting institutional investors and retail traders alike.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crypto enters mainstream portfolios, investors must understand: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Does BTC diversify or amplify risk?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Can it hedge against market downturns?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How much more volatile is it really?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005840"/>
            <a:ext cx="4206240" cy="3566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17099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Bitcoin correlated with the stock market?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2075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r, rolling correlation, OLS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70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70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Bitcoin act as a hedge during crashes?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during 2018, COVID, 2022 bear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611880"/>
            <a:ext cx="54864" cy="7498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3630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630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volatility compare?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3995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vol, rolling vol, VaR, return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15568"/>
            <a:ext cx="621792" cy="62179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1: Yahoo 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(BTC-USD)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(BTC-USD)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(7 days/week)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2016 – Dec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3,652 observations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Python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 price (USD)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1005840"/>
            <a:ext cx="42062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15568"/>
            <a:ext cx="621792" cy="621792"/>
          </a:xfrm>
          <a:prstGeom prst="ellipse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155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2: FRED (Federal Reserve)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965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(business days only)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2016 – Dec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2,523 observations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611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pandas_datareader library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4023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level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Preparation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69848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occasionally reports no value on thin trading days. We forward-fill S&amp;P 500 gaps, then drop any remaining NaN rows after the inner join.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810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&amp; Align Dates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1579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on date index keeps only days where BOTH assets have data (2,431 matching business days). BTC weekend data is excluded.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615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Conversion &amp; Sort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62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cast to float64. Index set as DatetimeIndex and sorted ascending. Year column added for groupby operations.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83864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83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New Columns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7673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simple returns (pct_change), log returns, cumulative returns (base 100), 30-day rolling volatility, and 90-day rolling correlation.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88536"/>
            <a:ext cx="475488" cy="47548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88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224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Subset &amp; Aggregation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572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subset for focused analysis. Annual statistics computed via groupby(Year) with mean, std, min, max, and total return aggregations.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Price History: 2016 to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1_price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 Invested in 2016: A Tale of Two Assets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2_cumulative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66751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914400"/>
            <a:ext cx="1737360" cy="132588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0" y="960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$19,887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0" y="2468880"/>
            <a:ext cx="1737360" cy="132588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1323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Log scale used so both assets remain visible on the same chart.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Bitcoin Correlated with the Stock Market?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33832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0.246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Weak-to-moderate positive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560320" cy="4572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= 0.91  |  R-squared = 0.060</a:t>
            </a:r>
            <a:endParaRPr lang="en-US" sz="1100" dirty="0"/>
          </a:p>
        </p:txBody>
      </p:sp>
      <p:pic>
        <p:nvPicPr>
          <p:cNvPr id="12" name="Image 0" descr="/sessions/vibrant-quirky-carson/mnt/Crypto-vs-Traditional-Markets/fig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61872"/>
            <a:ext cx="2743200" cy="3520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35040" y="1280160"/>
            <a:ext cx="2697480" cy="33832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19385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18928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r=0.246 is significant — BTC has measurable but limited equity linkage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26243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25786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 of BTC variance is NOT explained by S&amp;P 500 moves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3101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3264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has risen post-2020 with institutional adoption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399592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Beta=0.91: BTC moves ~0.91% per 1% S&amp;P move on correlated days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Correlation is Not Constant Over Time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4_rolling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64922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960120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12280" y="960120"/>
            <a:ext cx="54864" cy="89611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22008" y="1014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2016–2019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22008" y="1289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— BTC traded independently of equities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12280" y="2103120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2103120"/>
            <a:ext cx="54864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200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 2020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2200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spiked as all risk assets sold off together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12280" y="3246120"/>
            <a:ext cx="2011680" cy="8961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12280" y="3246120"/>
            <a:ext cx="54864" cy="89611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2008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2022–2025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22008" y="3575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correlation as institutional investors drove linkage</a:t>
            </a:r>
            <a:endParaRPr lang="en-US" sz="950" dirty="0"/>
          </a:p>
        </p:txBody>
      </p:sp>
      <p:pic>
        <p:nvPicPr>
          <p:cNvPr id="17" name="Image 1" descr="/sessions/vibrant-quirky-carson/mnt/Crypto-vs-Traditional-Markets/fig6_yearly_corre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15968"/>
            <a:ext cx="859536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OLS Regression: BTC Returns on S&amp;P 500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5_scatter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48463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914400"/>
            <a:ext cx="347472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76672" y="150876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(beta)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78040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0.912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76672" y="2075688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(intercept)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78040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0.00128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376672" y="26426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178040" y="2715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0.0604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376672" y="3209544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3282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(beta)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78040" y="32826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0.0001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06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4068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1% S&amp;P 500 move, BTC moves ~0.91%. But R2=0.06 — the market explains only 6% of BTC variance.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Bitcoin Hedge Against Market Crashes?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2018 Sell-Off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 – Dec 24, 2018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trading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-19.1%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-36.3%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74320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 Crash 2020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9272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19 – Mar 23, 2020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trading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-33.6%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319272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-36.7%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227832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1280160"/>
            <a:ext cx="2834640" cy="35204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280160"/>
            <a:ext cx="28346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 Bear Market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1865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 – Oct 12, 2022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2784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trading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return: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72784" y="2816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-24.9%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272784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return: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72784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-58.6%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181344" y="4553712"/>
            <a:ext cx="28346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45537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hedge — amplified losses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243554"/>
          </a:solidFill>
          <a:ln w="12700">
            <a:solidFill>
              <a:srgbClr val="2435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Bitcoin amplified losses in every major crash — it does NOT act as a safe-haven or hedge asset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Drawdown: BTC Fell Further in Every Crash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8_dra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shaded bands indicate the 3 major crash windows. BTC consistently shows deeper and longer-lasting drawdowns.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Volatility Compare?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20116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Annual Vol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17.9%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98448"/>
            <a:ext cx="20116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Ratio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3.7x more volatile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98448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VaR 95%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-6.0%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-1.65%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298448"/>
            <a:ext cx="2011680" cy="1554480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98448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Annual Ret.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S&amp;P 500: 13.6%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1938528"/>
          </a:xfrm>
          <a:prstGeom prst="rect">
            <a:avLst/>
          </a:prstGeom>
          <a:solidFill>
            <a:srgbClr val="243554"/>
          </a:solidFill>
          <a:ln w="12700">
            <a:solidFill>
              <a:srgbClr val="2E4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0723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Metrics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32888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8576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84264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Volatility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32888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08576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84264" y="3822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Single-Day Loss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32888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-46.5%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08576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84264" y="4078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(95%, daily)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32888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-6.0%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08576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84264" y="43342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532888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(fat tails)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08576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8426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Rolling 30-Day Volatility Over Time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9_rolling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60520"/>
            <a:ext cx="39776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160520"/>
            <a:ext cx="54864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Volatility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44805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vol peaks above 150% annualised during major crypto events (2017 bull run, COVID, 2021-22 cycle).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4160520"/>
            <a:ext cx="39776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4160520"/>
            <a:ext cx="54864" cy="80467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 Volatility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44805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vol peaked during COVID (Mar 2020). Even its largest spike remains below BTC's average level.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Return Distribution: Fat Tails in Crypto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sessions/vibrant-quirky-carson/mnt/Crypto-vs-Traditional-Markets/fig11_retur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shows a far wider distribution with extreme daily swings (+20% to -46%) vs S&amp;P 500 (+11% to -12%). Higher kurtosis = fatter tails = more extreme daily events.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11556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has a statistically significant but moderate positive correlation with the S&amp;P 500 (r=0.246). This link has strengthened post-2020 with institutional adoption. Beta of 0.91 — BTC amplifies equity moves on correlated days. R2=0.06 means 94% of BTC variance remains unexplained by equities.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44144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did NOT hedge in any of the 3 major crashes. COVID 2020: BTC fell -36.7% vs S&amp;P -33.6%. 2022 bear market: BTC -58.6% vs S&amp;P -24.9%. BTC behaves as a high-risk growth asset that sells off in risk-off environments — not a safe haven like gold.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133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767328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3.7x more volatile than the S&amp;P 500 (66.2% vs 17.9% annualised). VaR at 95% is -6.0% (BTC) vs -1.65% (S&amp;P). Despite extreme risk, BTC delivered ~75% annualised return vs 13.6% — a highly asymmetric risk/reward profile.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Discussion, Limitations &amp; Future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 only — fundamentals, on-chain metrics and regulation not included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03704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5798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alone does not represent all crypto (Ethereum, DeFi, altcoins missing)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340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is U.S.-centric — global markets may show different BTC relationships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5584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101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are time-varying and unstable — past patterns may not persist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BTC trades excluded by inner join on business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1005840"/>
            <a:ext cx="4206240" cy="3749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0972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Research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819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Ethereum, gold, bonds and DeFi tokens for broader asset comparison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203704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579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 Trends and Fear &amp; Greed Index as sentiment data 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79776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73405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GARCH(1,1) models for dynamic volatility estimation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5584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101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Markov regime-switching models to capture correlation structural breaks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international equity indices (Nikkei, FTSE, DAX)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5212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&amp; Responsibilities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/ Data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from Yahoo Finance &amp; FRED, data cleaning pipeline, index alignment, missing value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analysis (RQ1), Pearson r, rolling correlation, OLS regression, yearly groupby aggregations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Crash/hedge analysis (RQ2), drawdown calculations, crash window identification and performance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analysis (RQ3), rolling vol, VaR, return distribution, skewness &amp; kurtosis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&amp; 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matplotlib/seaborn charts, PowerPoint slides, and final narrative/conclusions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Yahoo Finance. (2025). Bitcoin USD (BTC-USD) Historical Data. Retrieved via yfinance Python library. https://finance.yahoo.com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Federal Reserve Bank of St. Louis (FRED). (2025). S&amp;P 500 Index [SP500]. pandas-datareader. https://fred.stlouisfed.org/series/SP500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McKinney, W. (2010). Data structures for statistical computing in Python. Proceedings of the 9th Python in Science Conference, 51-56.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4597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Bouri, E., et al. (2017). On the hedge and safe haven properties of Bitcoin. Finance Research Letters, 20, 192-198.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Corbet, S., et al. (2018). Exploring dynamic relationships between cryptocurrencies and other financial assets. Economics Letters, 165, 28-34.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Dyhrberg, A. H. (2016). Hedging capabilities of Bitcoin. Is it the virtual gold? Finance Research Letters, 16, 139-144.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Seaborn: Statistical Data Visualization. (2021). https://seaborn.pydata.org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9826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Hunter, J. D. (2007). Matplotlib: A 2D graphics environment. Computing in Science &amp; Engineering, 9(3), 90-95.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411480"/>
            <a:ext cx="2194560" cy="21945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4114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B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4069080"/>
            <a:ext cx="45720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vs Traditional Markets  |  Financial Technology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vs Traditional Markets</dc:title>
  <dc:subject>PptxGenJS Presentation</dc:subject>
  <dc:creator>PptxGenJS</dc:creator>
  <cp:lastModifiedBy>PptxGenJS</cp:lastModifiedBy>
  <cp:revision>1</cp:revision>
  <dcterms:created xsi:type="dcterms:W3CDTF">2026-04-30T07:32:04Z</dcterms:created>
  <dcterms:modified xsi:type="dcterms:W3CDTF">2026-04-30T07:32:04Z</dcterms:modified>
</cp:coreProperties>
</file>